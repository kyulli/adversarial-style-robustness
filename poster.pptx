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900" b="0" i="0" u="none" strike="noStrike">
                <a:solidFill>
                  <a:srgbClr val="1B3A5C"/>
                </a:solidFill>
                <a:latin typeface="Arial"/>
              </a:defRPr>
            </a:pPr>
            <a:r>
              <a:rPr sz="1900" b="0" i="0" u="none" strike="noStrike">
                <a:solidFill>
                  <a:srgbClr val="1B3A5C"/>
                </a:solidFill>
                <a:latin typeface="Arial"/>
              </a:rPr>
              <a:t>Robustness Curve: ASR vs. ε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FGSM ASR (%)</c:v>
                </c:pt>
              </c:strCache>
            </c:strRef>
          </c:tx>
          <c:spPr>
            <a:solidFill>
              <a:srgbClr val="2E6DA4"/>
            </a:solidFill>
            <a:ln w="25400" cap="flat">
              <a:solidFill>
                <a:srgbClr val="2E6DA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6DA4"/>
              </a:solidFill>
              <a:ln w="9525" cap="flat">
                <a:solidFill>
                  <a:srgbClr val="2E6DA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0.01</c:v>
                  </c:pt>
                  <c:pt idx="2">
                    <c:v>0.02</c:v>
                  </c:pt>
                  <c:pt idx="3">
                    <c:v>0.03</c:v>
                  </c:pt>
                  <c:pt idx="4">
                    <c:v>0.05</c:v>
                  </c:pt>
                  <c:pt idx="5">
                    <c:v>0.10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22.8</c:v>
                </c:pt>
                <c:pt idx="2">
                  <c:v>38.1</c:v>
                </c:pt>
                <c:pt idx="3">
                  <c:v>52.4</c:v>
                </c:pt>
                <c:pt idx="4">
                  <c:v>71</c:v>
                </c:pt>
                <c:pt idx="5">
                  <c:v>85.1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PGD ASR (%)</c:v>
                </c:pt>
              </c:strCache>
            </c:strRef>
          </c:tx>
          <c:spPr>
            <a:solidFill>
              <a:srgbClr val="B22222"/>
            </a:solidFill>
            <a:ln w="25400" cap="flat">
              <a:solidFill>
                <a:srgbClr val="B222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22222"/>
              </a:solidFill>
              <a:ln w="9525" cap="flat">
                <a:solidFill>
                  <a:srgbClr val="B222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0.01</c:v>
                  </c:pt>
                  <c:pt idx="2">
                    <c:v>0.02</c:v>
                  </c:pt>
                  <c:pt idx="3">
                    <c:v>0.03</c:v>
                  </c:pt>
                  <c:pt idx="4">
                    <c:v>0.05</c:v>
                  </c:pt>
                  <c:pt idx="5">
                    <c:v>0.10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46.5</c:v>
                </c:pt>
                <c:pt idx="2">
                  <c:v>63.2</c:v>
                </c:pt>
                <c:pt idx="3">
                  <c:v>81.7</c:v>
                </c:pt>
                <c:pt idx="4">
                  <c:v>91.7</c:v>
                </c:pt>
                <c:pt idx="5">
                  <c:v>96.6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700">
              <a:solidFill>
                <a:srgbClr val="11111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1645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3986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Adversarial Robustness in Artistic Style Recognition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11480" y="2103120"/>
            <a:ext cx="3986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Analysis and Defense Mechanisms for CNN-Based Style Classifiers on WikiArt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Kulkarni  ·  Qiuli Lai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3364992"/>
            <a:ext cx="3986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Science, Brown University  ·  CSCI 1470: Deep Learning, Spring 2026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0782240" y="228600"/>
            <a:ext cx="2743200" cy="356616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02280" y="411480"/>
            <a:ext cx="2103120" cy="210312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02280" y="4114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1056560" y="2606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0" y="3886200"/>
            <a:ext cx="43891200" cy="5486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4114800"/>
            <a:ext cx="1411224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4114800"/>
            <a:ext cx="13947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Motivation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4681728"/>
            <a:ext cx="14112240" cy="475488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4818888"/>
            <a:ext cx="1374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achieve state-of-the-art accuracy on artistic style classification — but </a:t>
            </a:r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high accuracy imply genuine aesthetic understanding?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" y="5687568"/>
            <a:ext cx="1374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examples</a:t>
            </a:r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inputs with imperceptible pixel perturbations — cause confident misclassification. A classifier fooled by invisible noise likely encodes </a:t>
            </a:r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low-level statistics</a:t>
            </a:r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rather than high-level artistic concepts (brushstroke, palette, composition).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4360" y="7242048"/>
            <a:ext cx="1374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for: </a:t>
            </a:r>
            <a:pPr indent="0" marL="0">
              <a:buNone/>
            </a:pPr>
            <a:r>
              <a:rPr lang="en-US" sz="2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art authentication · copyright attribution · cultural heritage systems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4360" y="8019288"/>
            <a:ext cx="13746480" cy="12344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8065008"/>
            <a:ext cx="1356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"How vulnerable are CNN-based artistic style classifiers to adversarial perturbations, and do different styles exhibit different robustness profiles?"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11480" y="9756648"/>
            <a:ext cx="1411224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9756648"/>
            <a:ext cx="13947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Dataset: WikiArt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11480" y="10323576"/>
            <a:ext cx="14112240" cy="301752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10506456"/>
            <a:ext cx="452120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10524744"/>
            <a:ext cx="452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~80,000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94360" y="11128248"/>
            <a:ext cx="452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paintings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07000" y="10506456"/>
            <a:ext cx="452120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07000" y="10524744"/>
            <a:ext cx="452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207000" y="11128248"/>
            <a:ext cx="452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artistic styles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819640" y="10506456"/>
            <a:ext cx="452120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19640" y="10524744"/>
            <a:ext cx="452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819640" y="11128248"/>
            <a:ext cx="452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4360" y="11740896"/>
            <a:ext cx="1374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</a:t>
            </a:r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 15% val / 15% test  (seed 42)     </a:t>
            </a:r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Normalize: </a:t>
            </a:r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μ=[0.485, 0.456, 0.406], σ=[0.229, 0.224, 0.225]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594360" y="12243816"/>
            <a:ext cx="1374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(train only): </a:t>
            </a:r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horizontal flip · ±10° rotation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94360" y="12746736"/>
            <a:ext cx="1374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class-imbalanced (Realism ~10K; Pointillism &lt;1K). Stratified splits used.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411480" y="13661136"/>
            <a:ext cx="1411224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" y="13661136"/>
            <a:ext cx="13947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Model Architecture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411480" y="14228064"/>
            <a:ext cx="14112240" cy="320040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0936" y="14410944"/>
            <a:ext cx="2621280" cy="13716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" y="14410944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252216" y="14410944"/>
            <a:ext cx="228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777"/>
                </a:solidFill>
              </a:rPr>
              <a:t>▶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3361944" y="14410944"/>
            <a:ext cx="2621280" cy="13716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61944" y="14410944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(ImageNet)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983224" y="14410944"/>
            <a:ext cx="228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777"/>
                </a:solidFill>
              </a:rPr>
              <a:t>▶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6092952" y="14410944"/>
            <a:ext cx="2621280" cy="13716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92952" y="14410944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AvgPool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714232" y="14410944"/>
            <a:ext cx="228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777"/>
                </a:solidFill>
              </a:rPr>
              <a:t>▶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8823960" y="14410944"/>
            <a:ext cx="2621280" cy="13716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23960" y="14410944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Layer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512→27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445240" y="14410944"/>
            <a:ext cx="228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777"/>
                </a:solidFill>
              </a:rPr>
              <a:t>▶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1554968" y="14410944"/>
            <a:ext cx="2621280" cy="13716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554968" y="14410944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styles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94360" y="15919704"/>
            <a:ext cx="1374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</a:t>
            </a:r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all backbone parameters.  </a:t>
            </a:r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</a:t>
            </a:r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 </a:t>
            </a:r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</a:t>
            </a:r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1×10⁻³  </a:t>
            </a:r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WD: </a:t>
            </a:r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1×10⁻⁴  </a:t>
            </a:r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annealing, 50 epochs, early stopping (patience=10)</a:t>
            </a:r>
            <a:endParaRPr lang="en-US" sz="1900" dirty="0"/>
          </a:p>
        </p:txBody>
      </p:sp>
      <p:sp>
        <p:nvSpPr>
          <p:cNvPr id="53" name="Text 51"/>
          <p:cNvSpPr/>
          <p:nvPr/>
        </p:nvSpPr>
        <p:spPr>
          <a:xfrm>
            <a:off x="594360" y="16742664"/>
            <a:ext cx="1374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</a:t>
            </a:r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ℒ(ŷ, y) = −log P(y | x)    </a:t>
            </a:r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</a:t>
            </a:r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11.18M (all trainable)</a:t>
            </a:r>
            <a:endParaRPr lang="en-US" sz="1900" dirty="0"/>
          </a:p>
        </p:txBody>
      </p:sp>
      <p:sp>
        <p:nvSpPr>
          <p:cNvPr id="54" name="Shape 52"/>
          <p:cNvSpPr/>
          <p:nvPr/>
        </p:nvSpPr>
        <p:spPr>
          <a:xfrm>
            <a:off x="411480" y="17748504"/>
            <a:ext cx="1411224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072" y="17748504"/>
            <a:ext cx="13947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Pre-Formulated Hypotheses</a:t>
            </a:r>
            <a:endParaRPr lang="en-US" sz="2200" dirty="0"/>
          </a:p>
        </p:txBody>
      </p:sp>
      <p:sp>
        <p:nvSpPr>
          <p:cNvPr id="56" name="Shape 54"/>
          <p:cNvSpPr/>
          <p:nvPr/>
        </p:nvSpPr>
        <p:spPr>
          <a:xfrm>
            <a:off x="411480" y="18315432"/>
            <a:ext cx="14112240" cy="694944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94360" y="18544032"/>
            <a:ext cx="640080" cy="1325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18544032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1371600" y="18635472"/>
            <a:ext cx="1301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 reduces PGD attack success rate by &gt;50% relative to baseline.</a:t>
            </a:r>
            <a:endParaRPr lang="en-US" sz="1900" dirty="0"/>
          </a:p>
        </p:txBody>
      </p:sp>
      <p:sp>
        <p:nvSpPr>
          <p:cNvPr id="60" name="Shape 58"/>
          <p:cNvSpPr/>
          <p:nvPr/>
        </p:nvSpPr>
        <p:spPr>
          <a:xfrm>
            <a:off x="594360" y="19961352"/>
            <a:ext cx="1374648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94360" y="20189952"/>
            <a:ext cx="640080" cy="132588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" y="20189952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1371600" y="20281392"/>
            <a:ext cx="1301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and impressionist styles are ≥20% more robust than representational styles (Realism, Baroque).</a:t>
            </a:r>
            <a:endParaRPr lang="en-US" sz="1900" dirty="0"/>
          </a:p>
        </p:txBody>
      </p:sp>
      <p:sp>
        <p:nvSpPr>
          <p:cNvPr id="64" name="Shape 62"/>
          <p:cNvSpPr/>
          <p:nvPr/>
        </p:nvSpPr>
        <p:spPr>
          <a:xfrm>
            <a:off x="594360" y="21607272"/>
            <a:ext cx="1374648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4360" y="21835872"/>
            <a:ext cx="640080" cy="1325880"/>
          </a:xfrm>
          <a:prstGeom prst="rect">
            <a:avLst/>
          </a:prstGeom>
          <a:solidFill>
            <a:srgbClr val="A67C2E"/>
          </a:solidFill>
          <a:ln w="12700">
            <a:solidFill>
              <a:srgbClr val="A67C2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4360" y="21835872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1371600" y="21927312"/>
            <a:ext cx="1301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requires 2–3× smaller ε than FGSM to achieve equivalent attack success rates (50% threshold).</a:t>
            </a:r>
            <a:endParaRPr lang="en-US" sz="1900" dirty="0"/>
          </a:p>
        </p:txBody>
      </p:sp>
      <p:sp>
        <p:nvSpPr>
          <p:cNvPr id="68" name="Shape 66"/>
          <p:cNvSpPr/>
          <p:nvPr/>
        </p:nvSpPr>
        <p:spPr>
          <a:xfrm>
            <a:off x="594360" y="23253192"/>
            <a:ext cx="1374648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4360" y="23481792"/>
            <a:ext cx="640080" cy="132588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4360" y="23481792"/>
            <a:ext cx="640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1371600" y="23573232"/>
            <a:ext cx="1301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improves robustness by 30–40% relative to baseline, but less than adversarial training.</a:t>
            </a:r>
            <a:endParaRPr lang="en-US" sz="1900" dirty="0"/>
          </a:p>
        </p:txBody>
      </p:sp>
      <p:sp>
        <p:nvSpPr>
          <p:cNvPr id="72" name="Shape 70"/>
          <p:cNvSpPr/>
          <p:nvPr/>
        </p:nvSpPr>
        <p:spPr>
          <a:xfrm>
            <a:off x="14889480" y="4114800"/>
            <a:ext cx="1411224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5054072" y="4114800"/>
            <a:ext cx="13947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Attack I: Fast Gradient Sign Method (FGSM)</a:t>
            </a:r>
            <a:endParaRPr lang="en-US" sz="2200" dirty="0"/>
          </a:p>
        </p:txBody>
      </p:sp>
      <p:sp>
        <p:nvSpPr>
          <p:cNvPr id="74" name="Shape 72"/>
          <p:cNvSpPr/>
          <p:nvPr/>
        </p:nvSpPr>
        <p:spPr>
          <a:xfrm>
            <a:off x="14889480" y="4681728"/>
            <a:ext cx="14112240" cy="429768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15072360" y="4818888"/>
            <a:ext cx="1374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 et al., ICLR 2015  ·  Single-step gradient attack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15346680" y="5276088"/>
            <a:ext cx="13197840" cy="822960"/>
          </a:xfrm>
          <a:prstGeom prst="rect">
            <a:avLst/>
          </a:prstGeom>
          <a:solidFill>
            <a:srgbClr val="EEF2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346680" y="5276088"/>
            <a:ext cx="1319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x_adv = clip[0,1]( x + ε · sign( ∇ₓ ℒ(f(x), y) ) )</a:t>
            </a:r>
            <a:endParaRPr lang="en-US" sz="2300" dirty="0"/>
          </a:p>
        </p:txBody>
      </p:sp>
      <p:sp>
        <p:nvSpPr>
          <p:cNvPr id="78" name="Text 76"/>
          <p:cNvSpPr/>
          <p:nvPr/>
        </p:nvSpPr>
        <p:spPr>
          <a:xfrm>
            <a:off x="15072360" y="6236208"/>
            <a:ext cx="1374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efficient (single backward pass)  </a:t>
            </a:r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</a:t>
            </a:r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suboptimal perturbation — can be evaded with smoothing</a:t>
            </a:r>
            <a:endParaRPr lang="en-US" sz="1900" dirty="0"/>
          </a:p>
        </p:txBody>
      </p:sp>
      <p:sp>
        <p:nvSpPr>
          <p:cNvPr id="79" name="Text 77"/>
          <p:cNvSpPr/>
          <p:nvPr/>
        </p:nvSpPr>
        <p:spPr>
          <a:xfrm>
            <a:off x="15072360" y="6967728"/>
            <a:ext cx="1374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range evaluated: </a:t>
            </a:r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{0.01, 0.02, 0.03, 0.05, 0.10}    </a:t>
            </a:r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model: </a:t>
            </a:r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ℓ∞ bounded, untargeted</a:t>
            </a:r>
            <a:endParaRPr lang="en-US" sz="1900" dirty="0"/>
          </a:p>
        </p:txBody>
      </p:sp>
      <p:sp>
        <p:nvSpPr>
          <p:cNvPr id="80" name="Shape 78"/>
          <p:cNvSpPr/>
          <p:nvPr/>
        </p:nvSpPr>
        <p:spPr>
          <a:xfrm>
            <a:off x="15072360" y="7607808"/>
            <a:ext cx="1374648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5072360" y="7699248"/>
            <a:ext cx="1374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imperceptibility: PSNR &gt; 30 dB at ε ≤ 0.03  (verified post-hoc)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15072360" y="8202168"/>
            <a:ext cx="1374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success rate at ε=0.03: </a:t>
            </a:r>
            <a:pPr indent="0" marL="0">
              <a:buNone/>
            </a:pPr>
            <a:r>
              <a:rPr lang="en-US" sz="20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52.4%    </a:t>
            </a:r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L∞: </a:t>
            </a:r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0.030</a:t>
            </a:r>
            <a:endParaRPr lang="en-US" sz="2000" dirty="0"/>
          </a:p>
        </p:txBody>
      </p:sp>
      <p:sp>
        <p:nvSpPr>
          <p:cNvPr id="83" name="Shape 81"/>
          <p:cNvSpPr/>
          <p:nvPr/>
        </p:nvSpPr>
        <p:spPr>
          <a:xfrm>
            <a:off x="14889480" y="9299448"/>
            <a:ext cx="1411224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5054072" y="9299448"/>
            <a:ext cx="13947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Attack II: Projected Gradient Descent (PGD)</a:t>
            </a:r>
            <a:endParaRPr lang="en-US" sz="2200" dirty="0"/>
          </a:p>
        </p:txBody>
      </p:sp>
      <p:sp>
        <p:nvSpPr>
          <p:cNvPr id="85" name="Shape 83"/>
          <p:cNvSpPr/>
          <p:nvPr/>
        </p:nvSpPr>
        <p:spPr>
          <a:xfrm>
            <a:off x="14889480" y="9866376"/>
            <a:ext cx="14112240" cy="502920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15072360" y="10003536"/>
            <a:ext cx="1374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Madry et al., ICLR 2018  ·  Iterative first-order attack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15346680" y="10460736"/>
            <a:ext cx="13197840" cy="1097280"/>
          </a:xfrm>
          <a:prstGeom prst="rect">
            <a:avLst/>
          </a:prstGeom>
          <a:solidFill>
            <a:srgbClr val="EEF2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5346680" y="10460736"/>
            <a:ext cx="1319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δ⁽⁰⁾ ~ Uniform(-ε, ε)
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x⁽ᵗ⁺¹⁾ = Π_{B_ε(x)}( x⁽ᵗ⁾ + α · sign( ∇ₓ ℒ(f(x⁽ᵗ⁾), y) ) )</a:t>
            </a:r>
            <a:endParaRPr lang="en-US" sz="2100" dirty="0"/>
          </a:p>
        </p:txBody>
      </p:sp>
      <p:sp>
        <p:nvSpPr>
          <p:cNvPr id="89" name="Text 87"/>
          <p:cNvSpPr/>
          <p:nvPr/>
        </p:nvSpPr>
        <p:spPr>
          <a:xfrm>
            <a:off x="15072360" y="11695176"/>
            <a:ext cx="1374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20 steps  </a:t>
            </a:r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(train: T=10)    </a:t>
            </a:r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0.001  </a:t>
            </a:r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restarts: 1    </a:t>
            </a:r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Π: </a:t>
            </a:r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ℓ∞ projection</a:t>
            </a:r>
            <a:endParaRPr lang="en-US" sz="1900" dirty="0"/>
          </a:p>
        </p:txBody>
      </p:sp>
      <p:sp>
        <p:nvSpPr>
          <p:cNvPr id="90" name="Text 88"/>
          <p:cNvSpPr/>
          <p:nvPr/>
        </p:nvSpPr>
        <p:spPr>
          <a:xfrm>
            <a:off x="15072360" y="12289536"/>
            <a:ext cx="1374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is considered the </a:t>
            </a:r>
            <a:pPr indent="0" marL="0">
              <a:buNone/>
            </a:pPr>
            <a:r>
              <a:rPr lang="en-US" sz="19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facto standard</a:t>
            </a:r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strong first-order attack. It forms the basis for adversarial training.</a:t>
            </a:r>
            <a:endParaRPr lang="en-US" sz="1900" dirty="0"/>
          </a:p>
        </p:txBody>
      </p:sp>
      <p:sp>
        <p:nvSpPr>
          <p:cNvPr id="91" name="Shape 89"/>
          <p:cNvSpPr/>
          <p:nvPr/>
        </p:nvSpPr>
        <p:spPr>
          <a:xfrm>
            <a:off x="15072360" y="13021056"/>
            <a:ext cx="1374648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5072360" y="13158216"/>
            <a:ext cx="1374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success rate at ε=0.03: </a:t>
            </a:r>
            <a:pPr indent="0" marL="0">
              <a:buNone/>
            </a:pPr>
            <a:r>
              <a:rPr lang="en-US" sz="20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81.7%    </a:t>
            </a:r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52.4% FGSM — </a:t>
            </a:r>
            <a:pPr indent="0" marL="0">
              <a:buNone/>
            </a:pPr>
            <a:r>
              <a:rPr lang="en-US" sz="20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higher</a:t>
            </a:r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</p:txBody>
      </p:sp>
      <p:sp>
        <p:nvSpPr>
          <p:cNvPr id="93" name="Text 91"/>
          <p:cNvSpPr/>
          <p:nvPr/>
        </p:nvSpPr>
        <p:spPr>
          <a:xfrm>
            <a:off x="15072360" y="13752576"/>
            <a:ext cx="1374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for 50% ASR: </a:t>
            </a:r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FGSM ≈ 0.030    PGD ≈ 0.010    Ratio ≈ 3.0×  </a:t>
            </a:r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confirms H3</a:t>
            </a:r>
            <a:endParaRPr lang="en-US" sz="2000" dirty="0"/>
          </a:p>
        </p:txBody>
      </p:sp>
      <p:sp>
        <p:nvSpPr>
          <p:cNvPr id="94" name="Shape 92"/>
          <p:cNvSpPr/>
          <p:nvPr/>
        </p:nvSpPr>
        <p:spPr>
          <a:xfrm>
            <a:off x="14889480" y="15215616"/>
            <a:ext cx="1411224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5054072" y="15215616"/>
            <a:ext cx="13947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Defense Mechanisms</a:t>
            </a:r>
            <a:endParaRPr lang="en-US" sz="2200" dirty="0"/>
          </a:p>
        </p:txBody>
      </p:sp>
      <p:sp>
        <p:nvSpPr>
          <p:cNvPr id="96" name="Shape 94"/>
          <p:cNvSpPr/>
          <p:nvPr/>
        </p:nvSpPr>
        <p:spPr>
          <a:xfrm>
            <a:off x="14889480" y="15782544"/>
            <a:ext cx="14112240" cy="768096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15072360" y="15965424"/>
            <a:ext cx="91440" cy="21945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5300960" y="15965424"/>
            <a:ext cx="1356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 (AT)</a:t>
            </a:r>
            <a:endParaRPr lang="en-US" sz="2100" dirty="0"/>
          </a:p>
        </p:txBody>
      </p:sp>
      <p:sp>
        <p:nvSpPr>
          <p:cNvPr id="99" name="Text 97"/>
          <p:cNvSpPr/>
          <p:nvPr/>
        </p:nvSpPr>
        <p:spPr>
          <a:xfrm>
            <a:off x="15300960" y="16376904"/>
            <a:ext cx="1356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Madry et al., 2018</a:t>
            </a:r>
            <a:endParaRPr lang="en-US" sz="1700" dirty="0"/>
          </a:p>
        </p:txBody>
      </p:sp>
      <p:sp>
        <p:nvSpPr>
          <p:cNvPr id="100" name="Text 98"/>
          <p:cNvSpPr/>
          <p:nvPr/>
        </p:nvSpPr>
        <p:spPr>
          <a:xfrm>
            <a:off x="15300960" y="16696944"/>
            <a:ext cx="1356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adversarial examples mixed into each training batch at rate α_mix = 0.5. The training loss becomes:</a:t>
            </a:r>
            <a:endParaRPr lang="en-US" sz="1800" dirty="0"/>
          </a:p>
        </p:txBody>
      </p:sp>
      <p:sp>
        <p:nvSpPr>
          <p:cNvPr id="101" name="Text 99"/>
          <p:cNvSpPr/>
          <p:nvPr/>
        </p:nvSpPr>
        <p:spPr>
          <a:xfrm>
            <a:off x="15803880" y="17519904"/>
            <a:ext cx="1283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ℒ_adv = 1/B · Σᵢ ℒ( f(x̃ᵢ), yᵢ )</a:t>
            </a:r>
            <a:endParaRPr lang="en-US" sz="1900" dirty="0"/>
          </a:p>
        </p:txBody>
      </p:sp>
      <p:sp>
        <p:nvSpPr>
          <p:cNvPr id="102" name="Text 100"/>
          <p:cNvSpPr/>
          <p:nvPr/>
        </p:nvSpPr>
        <p:spPr>
          <a:xfrm>
            <a:off x="15300960" y="17977104"/>
            <a:ext cx="1356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x̃ᵢ is clean or adversarial. Generates PGD (ε=0.03, T=10) on-the-fly.</a:t>
            </a:r>
            <a:endParaRPr lang="en-US" sz="1700" dirty="0"/>
          </a:p>
        </p:txBody>
      </p:sp>
      <p:sp>
        <p:nvSpPr>
          <p:cNvPr id="103" name="Shape 101"/>
          <p:cNvSpPr/>
          <p:nvPr/>
        </p:nvSpPr>
        <p:spPr>
          <a:xfrm>
            <a:off x="15072360" y="18864072"/>
            <a:ext cx="1374648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5072360" y="19001232"/>
            <a:ext cx="91440" cy="21945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5300960" y="19001232"/>
            <a:ext cx="1356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Defense</a:t>
            </a:r>
            <a:endParaRPr lang="en-US" sz="2100" dirty="0"/>
          </a:p>
        </p:txBody>
      </p:sp>
      <p:sp>
        <p:nvSpPr>
          <p:cNvPr id="106" name="Text 104"/>
          <p:cNvSpPr/>
          <p:nvPr/>
        </p:nvSpPr>
        <p:spPr>
          <a:xfrm>
            <a:off x="15300960" y="19412712"/>
            <a:ext cx="1356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 &amp; Khoshgoftaar, 2019</a:t>
            </a:r>
            <a:endParaRPr lang="en-US" sz="1700" dirty="0"/>
          </a:p>
        </p:txBody>
      </p:sp>
      <p:sp>
        <p:nvSpPr>
          <p:cNvPr id="107" name="Text 105"/>
          <p:cNvSpPr/>
          <p:nvPr/>
        </p:nvSpPr>
        <p:spPr>
          <a:xfrm>
            <a:off x="15300960" y="19732752"/>
            <a:ext cx="1356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augmentation pipeline — random crops (±32px padding), ±15° rotation, color jitter (brightness, contrast, saturation, hue). No adversarial examples used.</a:t>
            </a:r>
            <a:endParaRPr lang="en-US" sz="1800" dirty="0"/>
          </a:p>
        </p:txBody>
      </p:sp>
      <p:sp>
        <p:nvSpPr>
          <p:cNvPr id="108" name="Text 106"/>
          <p:cNvSpPr/>
          <p:nvPr/>
        </p:nvSpPr>
        <p:spPr>
          <a:xfrm>
            <a:off x="15300960" y="20601432"/>
            <a:ext cx="1356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training objective. Improves robustness indirectly via input diversity.</a:t>
            </a:r>
            <a:endParaRPr lang="en-US" sz="1700" dirty="0"/>
          </a:p>
        </p:txBody>
      </p:sp>
      <p:sp>
        <p:nvSpPr>
          <p:cNvPr id="109" name="Shape 107"/>
          <p:cNvSpPr/>
          <p:nvPr/>
        </p:nvSpPr>
        <p:spPr>
          <a:xfrm>
            <a:off x="15072360" y="21488400"/>
            <a:ext cx="1374648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5072360" y="21625560"/>
            <a:ext cx="91440" cy="2194560"/>
          </a:xfrm>
          <a:prstGeom prst="rect">
            <a:avLst/>
          </a:prstGeom>
          <a:solidFill>
            <a:srgbClr val="A67C2E"/>
          </a:solidFill>
          <a:ln w="12700">
            <a:solidFill>
              <a:srgbClr val="A67C2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5300960" y="21625560"/>
            <a:ext cx="1356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Preprocessing Defense</a:t>
            </a:r>
            <a:endParaRPr lang="en-US" sz="2100" dirty="0"/>
          </a:p>
        </p:txBody>
      </p:sp>
      <p:sp>
        <p:nvSpPr>
          <p:cNvPr id="112" name="Text 110"/>
          <p:cNvSpPr/>
          <p:nvPr/>
        </p:nvSpPr>
        <p:spPr>
          <a:xfrm>
            <a:off x="15300960" y="22037040"/>
            <a:ext cx="1356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Guo et al., ICLR 2018</a:t>
            </a:r>
            <a:endParaRPr lang="en-US" sz="1700" dirty="0"/>
          </a:p>
        </p:txBody>
      </p:sp>
      <p:sp>
        <p:nvSpPr>
          <p:cNvPr id="113" name="Text 111"/>
          <p:cNvSpPr/>
          <p:nvPr/>
        </p:nvSpPr>
        <p:spPr>
          <a:xfrm>
            <a:off x="15300960" y="22357080"/>
            <a:ext cx="1356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smoothing (σ=1.0, kernel=5×5) applied at inference time to destroy high-frequency perturbations. No retraining required.</a:t>
            </a:r>
            <a:endParaRPr lang="en-US" sz="1800" dirty="0"/>
          </a:p>
        </p:txBody>
      </p:sp>
      <p:sp>
        <p:nvSpPr>
          <p:cNvPr id="114" name="Text 112"/>
          <p:cNvSpPr/>
          <p:nvPr/>
        </p:nvSpPr>
        <p:spPr>
          <a:xfrm>
            <a:off x="15803880" y="23180040"/>
            <a:ext cx="1283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x_clean = G_σ ∗ x_adv</a:t>
            </a:r>
            <a:endParaRPr lang="en-US" sz="1900" dirty="0"/>
          </a:p>
        </p:txBody>
      </p:sp>
      <p:sp>
        <p:nvSpPr>
          <p:cNvPr id="115" name="Text 113"/>
          <p:cNvSpPr/>
          <p:nvPr/>
        </p:nvSpPr>
        <p:spPr>
          <a:xfrm>
            <a:off x="15300960" y="23637240"/>
            <a:ext cx="1356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any existing model. Computationally cheap but may fail vs. adaptive attacks.</a:t>
            </a:r>
            <a:endParaRPr lang="en-US" sz="1700" dirty="0"/>
          </a:p>
        </p:txBody>
      </p:sp>
      <p:sp>
        <p:nvSpPr>
          <p:cNvPr id="116" name="Shape 114"/>
          <p:cNvSpPr/>
          <p:nvPr/>
        </p:nvSpPr>
        <p:spPr>
          <a:xfrm>
            <a:off x="29367480" y="4114800"/>
            <a:ext cx="1411224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9532072" y="4114800"/>
            <a:ext cx="13947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Baseline Model Performance</a:t>
            </a:r>
            <a:endParaRPr lang="en-US" sz="2200" dirty="0"/>
          </a:p>
        </p:txBody>
      </p:sp>
      <p:sp>
        <p:nvSpPr>
          <p:cNvPr id="118" name="Shape 116"/>
          <p:cNvSpPr/>
          <p:nvPr/>
        </p:nvSpPr>
        <p:spPr>
          <a:xfrm>
            <a:off x="29367480" y="4681728"/>
            <a:ext cx="14112240" cy="155448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29550360" y="4773168"/>
            <a:ext cx="455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62.4%</a:t>
            </a:r>
            <a:endParaRPr lang="en-US" sz="3200" dirty="0"/>
          </a:p>
        </p:txBody>
      </p:sp>
      <p:sp>
        <p:nvSpPr>
          <p:cNvPr id="120" name="Text 118"/>
          <p:cNvSpPr/>
          <p:nvPr/>
        </p:nvSpPr>
        <p:spPr>
          <a:xfrm>
            <a:off x="29550360" y="5550408"/>
            <a:ext cx="455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</a:t>
            </a:r>
            <a:endParaRPr lang="en-US" sz="1600" dirty="0"/>
          </a:p>
        </p:txBody>
      </p:sp>
      <p:sp>
        <p:nvSpPr>
          <p:cNvPr id="121" name="Shape 119"/>
          <p:cNvSpPr/>
          <p:nvPr/>
        </p:nvSpPr>
        <p:spPr>
          <a:xfrm>
            <a:off x="34102040" y="4818888"/>
            <a:ext cx="0" cy="118872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4147760" y="4773168"/>
            <a:ext cx="455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87.1%</a:t>
            </a:r>
            <a:endParaRPr lang="en-US" sz="3200" dirty="0"/>
          </a:p>
        </p:txBody>
      </p:sp>
      <p:sp>
        <p:nvSpPr>
          <p:cNvPr id="123" name="Text 121"/>
          <p:cNvSpPr/>
          <p:nvPr/>
        </p:nvSpPr>
        <p:spPr>
          <a:xfrm>
            <a:off x="34147760" y="5550408"/>
            <a:ext cx="455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Accuracy</a:t>
            </a:r>
            <a:endParaRPr lang="en-US" sz="1600" dirty="0"/>
          </a:p>
        </p:txBody>
      </p:sp>
      <p:sp>
        <p:nvSpPr>
          <p:cNvPr id="124" name="Shape 122"/>
          <p:cNvSpPr/>
          <p:nvPr/>
        </p:nvSpPr>
        <p:spPr>
          <a:xfrm>
            <a:off x="38699440" y="4818888"/>
            <a:ext cx="0" cy="118872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8745160" y="4773168"/>
            <a:ext cx="455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1.43</a:t>
            </a:r>
            <a:endParaRPr lang="en-US" sz="3200" dirty="0"/>
          </a:p>
        </p:txBody>
      </p:sp>
      <p:sp>
        <p:nvSpPr>
          <p:cNvPr id="126" name="Text 124"/>
          <p:cNvSpPr/>
          <p:nvPr/>
        </p:nvSpPr>
        <p:spPr>
          <a:xfrm>
            <a:off x="38745160" y="5550408"/>
            <a:ext cx="455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Val. Loss</a:t>
            </a:r>
            <a:endParaRPr lang="en-US" sz="1600" dirty="0"/>
          </a:p>
        </p:txBody>
      </p:sp>
      <p:sp>
        <p:nvSpPr>
          <p:cNvPr id="127" name="Shape 125"/>
          <p:cNvSpPr/>
          <p:nvPr/>
        </p:nvSpPr>
        <p:spPr>
          <a:xfrm>
            <a:off x="29367480" y="6464808"/>
            <a:ext cx="1411224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9532072" y="6464808"/>
            <a:ext cx="13947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Attack Success Rate vs. ε  (Baseline Model)</a:t>
            </a:r>
            <a:endParaRPr lang="en-US" sz="2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367480" y="7031736"/>
          <a:ext cx="14112240" cy="1508760"/>
        </p:xfrm>
        <a:graphic>
          <a:graphicData uri="http://schemas.openxmlformats.org/drawingml/2006/table">
            <a:tbl>
              <a:tblPr/>
              <a:tblGrid>
                <a:gridCol w="3245815"/>
                <a:gridCol w="2173285"/>
                <a:gridCol w="2173285"/>
                <a:gridCol w="2173285"/>
                <a:gridCol w="2173285"/>
                <a:gridCol w="2173285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Attack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ε=0.01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ε=0.02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ε=0.03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ε=0.05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ε=0.10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FGSM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22.8%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38.1%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52.4%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71.0%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85.1%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PGD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22222"/>
                          </a:solidFill>
                        </a:rPr>
                        <a:t>46.5%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22222"/>
                          </a:solidFill>
                        </a:rPr>
                        <a:t>63.2%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22222"/>
                          </a:solidFill>
                        </a:rPr>
                        <a:t>81.7%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22222"/>
                          </a:solidFill>
                        </a:rPr>
                        <a:t>91.7%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22222"/>
                          </a:solidFill>
                        </a:rPr>
                        <a:t>96.6%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0" name="Chart 0" descr=""/>
          <p:cNvGraphicFramePr/>
          <p:nvPr/>
        </p:nvGraphicFramePr>
        <p:xfrm>
          <a:off x="29367480" y="8769096"/>
          <a:ext cx="14112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1" name="Shape 127"/>
          <p:cNvSpPr/>
          <p:nvPr/>
        </p:nvSpPr>
        <p:spPr>
          <a:xfrm>
            <a:off x="29367480" y="12838176"/>
            <a:ext cx="1411224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2" name="Text 128"/>
          <p:cNvSpPr/>
          <p:nvPr/>
        </p:nvSpPr>
        <p:spPr>
          <a:xfrm>
            <a:off x="29532072" y="12838176"/>
            <a:ext cx="13947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Defense Comparison  (PGD, ε = 0.03)</a:t>
            </a:r>
            <a:endParaRPr lang="en-US" sz="22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367480" y="13405104"/>
          <a:ext cx="14112240" cy="2286000"/>
        </p:xfrm>
        <a:graphic>
          <a:graphicData uri="http://schemas.openxmlformats.org/drawingml/2006/table">
            <a:tbl>
              <a:tblPr/>
              <a:tblGrid>
                <a:gridCol w="4515917"/>
                <a:gridCol w="3245815"/>
                <a:gridCol w="3245815"/>
                <a:gridCol w="3104693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Clean Acc.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PGD Acc.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ASR ↓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Baseline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62.4%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11.4%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22222"/>
                          </a:solidFill>
                        </a:rPr>
                        <a:t>81.7%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Aug. Defense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60.1%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22.3%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62.9%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Preprocessing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59.8%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28.7%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52.1%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Adv. Training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</a:rPr>
                        <a:t>57.3%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7D32"/>
                          </a:solidFill>
                        </a:rPr>
                        <a:t>38.5%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7D32"/>
                          </a:solidFill>
                        </a:rPr>
                        <a:t>32.8%</a:t>
                      </a:r>
                      <a:endParaRPr lang="en-US" sz="1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4" name="Shape 129"/>
          <p:cNvSpPr/>
          <p:nvPr/>
        </p:nvSpPr>
        <p:spPr>
          <a:xfrm>
            <a:off x="29367480" y="15919704"/>
            <a:ext cx="1411224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5" name="Text 130"/>
          <p:cNvSpPr/>
          <p:nvPr/>
        </p:nvSpPr>
        <p:spPr>
          <a:xfrm>
            <a:off x="29532072" y="15919704"/>
            <a:ext cx="13947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Per-Style Vulnerability  (FGSM, ε = 0.03)</a:t>
            </a:r>
            <a:endParaRPr lang="en-US" sz="2200" dirty="0"/>
          </a:p>
        </p:txBody>
      </p:sp>
      <p:sp>
        <p:nvSpPr>
          <p:cNvPr id="136" name="Shape 131"/>
          <p:cNvSpPr/>
          <p:nvPr/>
        </p:nvSpPr>
        <p:spPr>
          <a:xfrm>
            <a:off x="29367480" y="16486632"/>
            <a:ext cx="14112240" cy="566928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7" name="Text 132"/>
          <p:cNvSpPr/>
          <p:nvPr/>
        </p:nvSpPr>
        <p:spPr>
          <a:xfrm>
            <a:off x="29550360" y="16623792"/>
            <a:ext cx="1374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Success Rate by artistic style — ordered from most to least robust:</a:t>
            </a:r>
            <a:endParaRPr lang="en-US" sz="1800" dirty="0"/>
          </a:p>
        </p:txBody>
      </p:sp>
      <p:sp>
        <p:nvSpPr>
          <p:cNvPr id="138" name="Text 133"/>
          <p:cNvSpPr/>
          <p:nvPr/>
        </p:nvSpPr>
        <p:spPr>
          <a:xfrm>
            <a:off x="29550360" y="171175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Expressionism</a:t>
            </a:r>
            <a:endParaRPr lang="en-US" sz="1700" dirty="0"/>
          </a:p>
        </p:txBody>
      </p:sp>
      <p:sp>
        <p:nvSpPr>
          <p:cNvPr id="139" name="Shape 134"/>
          <p:cNvSpPr/>
          <p:nvPr/>
        </p:nvSpPr>
        <p:spPr>
          <a:xfrm>
            <a:off x="34030920" y="17172432"/>
            <a:ext cx="5540654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0" name="Text 135"/>
          <p:cNvSpPr/>
          <p:nvPr/>
        </p:nvSpPr>
        <p:spPr>
          <a:xfrm>
            <a:off x="39663014" y="1711756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</a:rPr>
              <a:t>61%</a:t>
            </a:r>
            <a:endParaRPr lang="en-US" sz="1700" dirty="0"/>
          </a:p>
        </p:txBody>
      </p:sp>
      <p:sp>
        <p:nvSpPr>
          <p:cNvPr id="141" name="Text 136"/>
          <p:cNvSpPr/>
          <p:nvPr/>
        </p:nvSpPr>
        <p:spPr>
          <a:xfrm>
            <a:off x="29550360" y="1773021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Impressionism</a:t>
            </a:r>
            <a:endParaRPr lang="en-US" sz="1700" dirty="0"/>
          </a:p>
        </p:txBody>
      </p:sp>
      <p:sp>
        <p:nvSpPr>
          <p:cNvPr id="142" name="Shape 137"/>
          <p:cNvSpPr/>
          <p:nvPr/>
        </p:nvSpPr>
        <p:spPr>
          <a:xfrm>
            <a:off x="34030920" y="17785080"/>
            <a:ext cx="5813146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3" name="Text 138"/>
          <p:cNvSpPr/>
          <p:nvPr/>
        </p:nvSpPr>
        <p:spPr>
          <a:xfrm>
            <a:off x="39935506" y="1773021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</a:rPr>
              <a:t>64%</a:t>
            </a:r>
            <a:endParaRPr lang="en-US" sz="1700" dirty="0"/>
          </a:p>
        </p:txBody>
      </p:sp>
      <p:sp>
        <p:nvSpPr>
          <p:cNvPr id="144" name="Text 139"/>
          <p:cNvSpPr/>
          <p:nvPr/>
        </p:nvSpPr>
        <p:spPr>
          <a:xfrm>
            <a:off x="29550360" y="183428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Post-Impressionism</a:t>
            </a:r>
            <a:endParaRPr lang="en-US" sz="1700" dirty="0"/>
          </a:p>
        </p:txBody>
      </p:sp>
      <p:sp>
        <p:nvSpPr>
          <p:cNvPr id="145" name="Shape 140"/>
          <p:cNvSpPr/>
          <p:nvPr/>
        </p:nvSpPr>
        <p:spPr>
          <a:xfrm>
            <a:off x="34030920" y="18397728"/>
            <a:ext cx="5994806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6" name="Text 141"/>
          <p:cNvSpPr/>
          <p:nvPr/>
        </p:nvSpPr>
        <p:spPr>
          <a:xfrm>
            <a:off x="40117166" y="1834286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</a:rPr>
              <a:t>66%</a:t>
            </a:r>
            <a:endParaRPr lang="en-US" sz="1700" dirty="0"/>
          </a:p>
        </p:txBody>
      </p:sp>
      <p:sp>
        <p:nvSpPr>
          <p:cNvPr id="147" name="Text 142"/>
          <p:cNvSpPr/>
          <p:nvPr/>
        </p:nvSpPr>
        <p:spPr>
          <a:xfrm>
            <a:off x="29550360" y="189555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Cubism</a:t>
            </a:r>
            <a:endParaRPr lang="en-US" sz="1700" dirty="0"/>
          </a:p>
        </p:txBody>
      </p:sp>
      <p:sp>
        <p:nvSpPr>
          <p:cNvPr id="148" name="Shape 143"/>
          <p:cNvSpPr/>
          <p:nvPr/>
        </p:nvSpPr>
        <p:spPr>
          <a:xfrm>
            <a:off x="34030920" y="19010376"/>
            <a:ext cx="6358128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9" name="Text 144"/>
          <p:cNvSpPr/>
          <p:nvPr/>
        </p:nvSpPr>
        <p:spPr>
          <a:xfrm>
            <a:off x="40480488" y="1895551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DA4"/>
                </a:solidFill>
              </a:rPr>
              <a:t>70%</a:t>
            </a:r>
            <a:endParaRPr lang="en-US" sz="1700" dirty="0"/>
          </a:p>
        </p:txBody>
      </p:sp>
      <p:sp>
        <p:nvSpPr>
          <p:cNvPr id="150" name="Text 145"/>
          <p:cNvSpPr/>
          <p:nvPr/>
        </p:nvSpPr>
        <p:spPr>
          <a:xfrm>
            <a:off x="29550360" y="195681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Romanticism</a:t>
            </a:r>
            <a:endParaRPr lang="en-US" sz="1700" dirty="0"/>
          </a:p>
        </p:txBody>
      </p:sp>
      <p:sp>
        <p:nvSpPr>
          <p:cNvPr id="151" name="Shape 146"/>
          <p:cNvSpPr/>
          <p:nvPr/>
        </p:nvSpPr>
        <p:spPr>
          <a:xfrm>
            <a:off x="34030920" y="19623024"/>
            <a:ext cx="6903110" cy="347472"/>
          </a:xfrm>
          <a:prstGeom prst="rect">
            <a:avLst/>
          </a:prstGeom>
          <a:solidFill>
            <a:srgbClr val="A67C2E"/>
          </a:solidFill>
          <a:ln w="12700">
            <a:solidFill>
              <a:srgbClr val="A67C2E"/>
            </a:solidFill>
            <a:prstDash val="solid"/>
          </a:ln>
        </p:spPr>
      </p:sp>
      <p:sp>
        <p:nvSpPr>
          <p:cNvPr id="152" name="Text 147"/>
          <p:cNvSpPr/>
          <p:nvPr/>
        </p:nvSpPr>
        <p:spPr>
          <a:xfrm>
            <a:off x="41025470" y="1956816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7C2E"/>
                </a:solidFill>
              </a:rPr>
              <a:t>76%</a:t>
            </a:r>
            <a:endParaRPr lang="en-US" sz="1700" dirty="0"/>
          </a:p>
        </p:txBody>
      </p:sp>
      <p:sp>
        <p:nvSpPr>
          <p:cNvPr id="153" name="Text 148"/>
          <p:cNvSpPr/>
          <p:nvPr/>
        </p:nvSpPr>
        <p:spPr>
          <a:xfrm>
            <a:off x="29550360" y="201808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Baroque</a:t>
            </a:r>
            <a:endParaRPr lang="en-US" sz="1700" dirty="0"/>
          </a:p>
        </p:txBody>
      </p:sp>
      <p:sp>
        <p:nvSpPr>
          <p:cNvPr id="154" name="Shape 149"/>
          <p:cNvSpPr/>
          <p:nvPr/>
        </p:nvSpPr>
        <p:spPr>
          <a:xfrm>
            <a:off x="34030920" y="20235672"/>
            <a:ext cx="7629754" cy="34747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55" name="Text 150"/>
          <p:cNvSpPr/>
          <p:nvPr/>
        </p:nvSpPr>
        <p:spPr>
          <a:xfrm>
            <a:off x="41752114" y="2018080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2222"/>
                </a:solidFill>
              </a:rPr>
              <a:t>84%</a:t>
            </a:r>
            <a:endParaRPr lang="en-US" sz="1700" dirty="0"/>
          </a:p>
        </p:txBody>
      </p:sp>
      <p:sp>
        <p:nvSpPr>
          <p:cNvPr id="156" name="Text 151"/>
          <p:cNvSpPr/>
          <p:nvPr/>
        </p:nvSpPr>
        <p:spPr>
          <a:xfrm>
            <a:off x="29550360" y="2079345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</a:t>
            </a:r>
            <a:endParaRPr lang="en-US" sz="1700" dirty="0"/>
          </a:p>
        </p:txBody>
      </p:sp>
      <p:sp>
        <p:nvSpPr>
          <p:cNvPr id="157" name="Shape 152"/>
          <p:cNvSpPr/>
          <p:nvPr/>
        </p:nvSpPr>
        <p:spPr>
          <a:xfrm>
            <a:off x="34030920" y="20848320"/>
            <a:ext cx="8083906" cy="34747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58" name="Text 153"/>
          <p:cNvSpPr/>
          <p:nvPr/>
        </p:nvSpPr>
        <p:spPr>
          <a:xfrm>
            <a:off x="42206266" y="2079345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2222"/>
                </a:solidFill>
              </a:rPr>
              <a:t>89%</a:t>
            </a:r>
            <a:endParaRPr lang="en-US" sz="1700" dirty="0"/>
          </a:p>
        </p:txBody>
      </p:sp>
      <p:sp>
        <p:nvSpPr>
          <p:cNvPr id="159" name="Text 154"/>
          <p:cNvSpPr/>
          <p:nvPr/>
        </p:nvSpPr>
        <p:spPr>
          <a:xfrm>
            <a:off x="29550360" y="214061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Renaissance</a:t>
            </a:r>
            <a:endParaRPr lang="en-US" sz="1700" dirty="0"/>
          </a:p>
        </p:txBody>
      </p:sp>
      <p:sp>
        <p:nvSpPr>
          <p:cNvPr id="160" name="Shape 155"/>
          <p:cNvSpPr/>
          <p:nvPr/>
        </p:nvSpPr>
        <p:spPr>
          <a:xfrm>
            <a:off x="34030920" y="21460968"/>
            <a:ext cx="8265566" cy="34747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61" name="Text 156"/>
          <p:cNvSpPr/>
          <p:nvPr/>
        </p:nvSpPr>
        <p:spPr>
          <a:xfrm>
            <a:off x="42387926" y="2140610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2222"/>
                </a:solidFill>
              </a:rPr>
              <a:t>91%</a:t>
            </a:r>
            <a:endParaRPr lang="en-US" sz="1700" dirty="0"/>
          </a:p>
        </p:txBody>
      </p:sp>
      <p:sp>
        <p:nvSpPr>
          <p:cNvPr id="162" name="Shape 157"/>
          <p:cNvSpPr/>
          <p:nvPr/>
        </p:nvSpPr>
        <p:spPr>
          <a:xfrm>
            <a:off x="29550360" y="21607272"/>
            <a:ext cx="1374648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163" name="Text 158"/>
          <p:cNvSpPr/>
          <p:nvPr/>
        </p:nvSpPr>
        <p:spPr>
          <a:xfrm>
            <a:off x="29550360" y="21698712"/>
            <a:ext cx="1383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Abstract/Impressionist  </a:t>
            </a:r>
            <a:pPr indent="0" marL="0">
              <a:buNone/>
            </a:pPr>
            <a:r>
              <a:rPr lang="en-US" sz="15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Mixed  </a:t>
            </a:r>
            <a:pPr indent="0" marL="0">
              <a:buNone/>
            </a:pPr>
            <a:r>
              <a:rPr lang="en-US" sz="15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Moderately vulnerable  </a:t>
            </a:r>
            <a:pPr indent="0" marL="0">
              <a:buNone/>
            </a:pPr>
            <a:r>
              <a:rPr lang="en-US" sz="15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Representational</a:t>
            </a:r>
            <a:endParaRPr lang="en-US" sz="1500" dirty="0"/>
          </a:p>
        </p:txBody>
      </p:sp>
      <p:sp>
        <p:nvSpPr>
          <p:cNvPr id="164" name="Shape 159"/>
          <p:cNvSpPr/>
          <p:nvPr/>
        </p:nvSpPr>
        <p:spPr>
          <a:xfrm>
            <a:off x="29367480" y="22384512"/>
            <a:ext cx="1411224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5" name="Text 160"/>
          <p:cNvSpPr/>
          <p:nvPr/>
        </p:nvSpPr>
        <p:spPr>
          <a:xfrm>
            <a:off x="29532072" y="22384512"/>
            <a:ext cx="13947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Key Findings &amp; Conclusions</a:t>
            </a:r>
            <a:endParaRPr lang="en-US" sz="2200" dirty="0"/>
          </a:p>
        </p:txBody>
      </p:sp>
      <p:sp>
        <p:nvSpPr>
          <p:cNvPr id="166" name="Shape 161"/>
          <p:cNvSpPr/>
          <p:nvPr/>
        </p:nvSpPr>
        <p:spPr>
          <a:xfrm>
            <a:off x="29367480" y="22951440"/>
            <a:ext cx="14112240" cy="425196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7" name="Shape 162"/>
          <p:cNvSpPr/>
          <p:nvPr/>
        </p:nvSpPr>
        <p:spPr>
          <a:xfrm>
            <a:off x="29550360" y="23134320"/>
            <a:ext cx="82296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8" name="Text 163"/>
          <p:cNvSpPr/>
          <p:nvPr/>
        </p:nvSpPr>
        <p:spPr>
          <a:xfrm>
            <a:off x="29550360" y="2313432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✓</a:t>
            </a:r>
            <a:endParaRPr lang="en-US" sz="1600" dirty="0"/>
          </a:p>
        </p:txBody>
      </p:sp>
      <p:sp>
        <p:nvSpPr>
          <p:cNvPr id="169" name="Text 164"/>
          <p:cNvSpPr/>
          <p:nvPr/>
        </p:nvSpPr>
        <p:spPr>
          <a:xfrm>
            <a:off x="30510480" y="23152608"/>
            <a:ext cx="1283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Adv. training reduces PGD ASR 81.7% → 32.8%  (−59.8%).  Trade-off: −5.1pp clean accuracy.</a:t>
            </a:r>
            <a:endParaRPr lang="en-US" sz="1800" dirty="0"/>
          </a:p>
        </p:txBody>
      </p:sp>
      <p:sp>
        <p:nvSpPr>
          <p:cNvPr id="170" name="Shape 165"/>
          <p:cNvSpPr/>
          <p:nvPr/>
        </p:nvSpPr>
        <p:spPr>
          <a:xfrm>
            <a:off x="29550360" y="23957280"/>
            <a:ext cx="1374648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171" name="Shape 166"/>
          <p:cNvSpPr/>
          <p:nvPr/>
        </p:nvSpPr>
        <p:spPr>
          <a:xfrm>
            <a:off x="29550360" y="24121872"/>
            <a:ext cx="82296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2" name="Text 167"/>
          <p:cNvSpPr/>
          <p:nvPr/>
        </p:nvSpPr>
        <p:spPr>
          <a:xfrm>
            <a:off x="29550360" y="2412187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✓</a:t>
            </a:r>
            <a:endParaRPr lang="en-US" sz="1600" dirty="0"/>
          </a:p>
        </p:txBody>
      </p:sp>
      <p:sp>
        <p:nvSpPr>
          <p:cNvPr id="173" name="Text 168"/>
          <p:cNvSpPr/>
          <p:nvPr/>
        </p:nvSpPr>
        <p:spPr>
          <a:xfrm>
            <a:off x="30510480" y="24140160"/>
            <a:ext cx="1283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styles ~25% more robust than Realism/Baroque. Suggests style features differ in brittleness.</a:t>
            </a:r>
            <a:endParaRPr lang="en-US" sz="1800" dirty="0"/>
          </a:p>
        </p:txBody>
      </p:sp>
      <p:sp>
        <p:nvSpPr>
          <p:cNvPr id="174" name="Shape 169"/>
          <p:cNvSpPr/>
          <p:nvPr/>
        </p:nvSpPr>
        <p:spPr>
          <a:xfrm>
            <a:off x="29550360" y="24944832"/>
            <a:ext cx="1374648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175" name="Shape 170"/>
          <p:cNvSpPr/>
          <p:nvPr/>
        </p:nvSpPr>
        <p:spPr>
          <a:xfrm>
            <a:off x="29550360" y="25109424"/>
            <a:ext cx="82296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6" name="Text 171"/>
          <p:cNvSpPr/>
          <p:nvPr/>
        </p:nvSpPr>
        <p:spPr>
          <a:xfrm>
            <a:off x="29550360" y="25109424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✓</a:t>
            </a:r>
            <a:endParaRPr lang="en-US" sz="1600" dirty="0"/>
          </a:p>
        </p:txBody>
      </p:sp>
      <p:sp>
        <p:nvSpPr>
          <p:cNvPr id="177" name="Text 172"/>
          <p:cNvSpPr/>
          <p:nvPr/>
        </p:nvSpPr>
        <p:spPr>
          <a:xfrm>
            <a:off x="30510480" y="25127712"/>
            <a:ext cx="1283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ε_FGSM / ε_PGD ≈ 3× at 50% ASR threshold. PGD is substantially more efficient.</a:t>
            </a:r>
            <a:endParaRPr lang="en-US" sz="1800" dirty="0"/>
          </a:p>
        </p:txBody>
      </p:sp>
      <p:sp>
        <p:nvSpPr>
          <p:cNvPr id="178" name="Shape 173"/>
          <p:cNvSpPr/>
          <p:nvPr/>
        </p:nvSpPr>
        <p:spPr>
          <a:xfrm>
            <a:off x="29550360" y="25932384"/>
            <a:ext cx="1374648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179" name="Shape 174"/>
          <p:cNvSpPr/>
          <p:nvPr/>
        </p:nvSpPr>
        <p:spPr>
          <a:xfrm>
            <a:off x="29550360" y="26096976"/>
            <a:ext cx="822960" cy="6858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80" name="Text 175"/>
          <p:cNvSpPr/>
          <p:nvPr/>
        </p:nvSpPr>
        <p:spPr>
          <a:xfrm>
            <a:off x="29550360" y="26096976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✓</a:t>
            </a:r>
            <a:endParaRPr lang="en-US" sz="1600" dirty="0"/>
          </a:p>
        </p:txBody>
      </p:sp>
      <p:sp>
        <p:nvSpPr>
          <p:cNvPr id="181" name="Text 176"/>
          <p:cNvSpPr/>
          <p:nvPr/>
        </p:nvSpPr>
        <p:spPr>
          <a:xfrm>
            <a:off x="30510480" y="26115264"/>
            <a:ext cx="1283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reduces ASR by ~23pp. Effective but inferior to explicit adversarial training.</a:t>
            </a:r>
            <a:endParaRPr lang="en-US" sz="1800" dirty="0"/>
          </a:p>
        </p:txBody>
      </p:sp>
      <p:sp>
        <p:nvSpPr>
          <p:cNvPr id="182" name="Text 177"/>
          <p:cNvSpPr/>
          <p:nvPr/>
        </p:nvSpPr>
        <p:spPr>
          <a:xfrm>
            <a:off x="29550360" y="26883360"/>
            <a:ext cx="1374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pPr indent="0" marL="0">
              <a:buNone/>
            </a:pPr>
            <a:r>
              <a:rPr lang="en-US" sz="17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classification accuracy ≠ robust semantic understanding. Adversarial robustness should be a standard evaluation criterion alongside accuracy for any deployed art analysis system.</a:t>
            </a:r>
            <a:endParaRPr lang="en-US" sz="1700" dirty="0"/>
          </a:p>
        </p:txBody>
      </p:sp>
      <p:sp>
        <p:nvSpPr>
          <p:cNvPr id="183" name="Shape 178"/>
          <p:cNvSpPr/>
          <p:nvPr/>
        </p:nvSpPr>
        <p:spPr>
          <a:xfrm>
            <a:off x="0" y="31546800"/>
            <a:ext cx="43891200" cy="5486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4" name="Shape 179"/>
          <p:cNvSpPr/>
          <p:nvPr/>
        </p:nvSpPr>
        <p:spPr>
          <a:xfrm>
            <a:off x="0" y="31601664"/>
            <a:ext cx="43891200" cy="1316736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85" name="Text 180"/>
          <p:cNvSpPr/>
          <p:nvPr/>
        </p:nvSpPr>
        <p:spPr>
          <a:xfrm>
            <a:off x="365760" y="31638240"/>
            <a:ext cx="3931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 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Goodfellow et al. (ICLR 2015). Explaining and Harnessing Adversarial Examples.    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Madry et al. (ICLR 2018). Towards Deep Learning Models Resistant to Adversarial Attacks.    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He et al. (CVPR 2016). Deep Residual Learning for Image Recognition.    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Saleh &amp; Elgammal (2016). Large-Scale Classification of Fine-Art Paintings.    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Guo et al. (ICLR 2018). Countering Adversarial Images using Input Transformations.</a:t>
            </a:r>
            <a:endParaRPr lang="en-US" sz="1600" dirty="0"/>
          </a:p>
        </p:txBody>
      </p:sp>
      <p:sp>
        <p:nvSpPr>
          <p:cNvPr id="186" name="Text 181"/>
          <p:cNvSpPr/>
          <p:nvPr/>
        </p:nvSpPr>
        <p:spPr>
          <a:xfrm>
            <a:off x="39319200" y="316382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1470 · Brown University · Spring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Adversarial Robustness in Artistic Style Recognition</dc:title>
  <dc:subject>PptxGenJS Presentation</dc:subject>
  <dc:creator>PptxGenJS</dc:creator>
  <cp:lastModifiedBy>PptxGenJS</cp:lastModifiedBy>
  <cp:revision>1</cp:revision>
  <dcterms:created xsi:type="dcterms:W3CDTF">2026-04-15T17:34:09Z</dcterms:created>
  <dcterms:modified xsi:type="dcterms:W3CDTF">2026-04-15T17:34:09Z</dcterms:modified>
</cp:coreProperties>
</file>